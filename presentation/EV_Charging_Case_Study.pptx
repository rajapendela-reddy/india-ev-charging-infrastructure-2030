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5556"/>
    <a:srgbClr val="2258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7DB3-EC9C-4FE7-AAA1-5132081CFF0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CB1C7-E619-4B60-95C5-A3D96A4F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136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7DB3-EC9C-4FE7-AAA1-5132081CFF0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CB1C7-E619-4B60-95C5-A3D96A4F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078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7DB3-EC9C-4FE7-AAA1-5132081CFF0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CB1C7-E619-4B60-95C5-A3D96A4F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119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7DB3-EC9C-4FE7-AAA1-5132081CFF0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CB1C7-E619-4B60-95C5-A3D96A4F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4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7DB3-EC9C-4FE7-AAA1-5132081CFF0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CB1C7-E619-4B60-95C5-A3D96A4F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410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7DB3-EC9C-4FE7-AAA1-5132081CFF0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CB1C7-E619-4B60-95C5-A3D96A4F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830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7DB3-EC9C-4FE7-AAA1-5132081CFF0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CB1C7-E619-4B60-95C5-A3D96A4F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103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7DB3-EC9C-4FE7-AAA1-5132081CFF0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CB1C7-E619-4B60-95C5-A3D96A4F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406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7DB3-EC9C-4FE7-AAA1-5132081CFF0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CB1C7-E619-4B60-95C5-A3D96A4F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13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7DB3-EC9C-4FE7-AAA1-5132081CFF0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CB1C7-E619-4B60-95C5-A3D96A4F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654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7DB3-EC9C-4FE7-AAA1-5132081CFF0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CB1C7-E619-4B60-95C5-A3D96A4F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3378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7DB3-EC9C-4FE7-AAA1-5132081CFF0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CB1C7-E619-4B60-95C5-A3D96A4FA82E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543566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7DB3-EC9C-4FE7-AAA1-5132081CFF0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CB1C7-E619-4B60-95C5-A3D96A4F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3280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7DB3-EC9C-4FE7-AAA1-5132081CFF0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CB1C7-E619-4B60-95C5-A3D96A4F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6441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7DB3-EC9C-4FE7-AAA1-5132081CFF0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CB1C7-E619-4B60-95C5-A3D96A4F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475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7DB3-EC9C-4FE7-AAA1-5132081CFF0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CB1C7-E619-4B60-95C5-A3D96A4F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971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7DB3-EC9C-4FE7-AAA1-5132081CFF0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CB1C7-E619-4B60-95C5-A3D96A4F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47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48E7DB3-EC9C-4FE7-AAA1-5132081CFF0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6CB1C7-E619-4B60-95C5-A3D96A4F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2915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C357D7E5-3F4B-44D3-E763-D2D57089984A}"/>
              </a:ext>
            </a:extLst>
          </p:cNvPr>
          <p:cNvSpPr/>
          <p:nvPr/>
        </p:nvSpPr>
        <p:spPr>
          <a:xfrm>
            <a:off x="641604" y="6172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kern="0" spc="200" dirty="0">
                <a:solidFill>
                  <a:srgbClr val="92D0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INDIA EV CHARGING INFRASTRUCTURE</a:t>
            </a:r>
            <a:endParaRPr lang="en-US" sz="1300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8677132-6B0F-DEAD-C562-C3BAC1F5419F}"/>
              </a:ext>
            </a:extLst>
          </p:cNvPr>
          <p:cNvSpPr/>
          <p:nvPr/>
        </p:nvSpPr>
        <p:spPr>
          <a:xfrm>
            <a:off x="641604" y="9555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2030 Investment Opportunity — Executive Summary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D837B38-D40D-4AFB-0B0D-D9F80BB85AD3}"/>
              </a:ext>
            </a:extLst>
          </p:cNvPr>
          <p:cNvSpPr/>
          <p:nvPr/>
        </p:nvSpPr>
        <p:spPr>
          <a:xfrm>
            <a:off x="641604" y="165049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FC2C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state-wise sizing of India's EV charging demand-supply gap through 2030, ranking investment opportunity by scenario-adjusted demand, infrastructure shortfall, and market concentration.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A2E85332-D3FE-18E2-2D80-174D1CA3892D}"/>
              </a:ext>
            </a:extLst>
          </p:cNvPr>
          <p:cNvSpPr/>
          <p:nvPr/>
        </p:nvSpPr>
        <p:spPr>
          <a:xfrm>
            <a:off x="641604" y="2537460"/>
            <a:ext cx="3310128" cy="1737360"/>
          </a:xfrm>
          <a:prstGeom prst="roundRect">
            <a:avLst>
              <a:gd name="adj" fmla="val 4211"/>
            </a:avLst>
          </a:prstGeom>
          <a:solidFill>
            <a:srgbClr val="123A5C"/>
          </a:solidFill>
          <a:ln w="12700">
            <a:solidFill>
              <a:srgbClr val="1E4A6E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6470927-B4D3-6689-B288-6F8DD5672308}"/>
              </a:ext>
            </a:extLst>
          </p:cNvPr>
          <p:cNvSpPr/>
          <p:nvPr/>
        </p:nvSpPr>
        <p:spPr>
          <a:xfrm>
            <a:off x="870204" y="2738628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solidFill>
                  <a:srgbClr val="92D05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19.22M</a:t>
            </a:r>
            <a:endParaRPr lang="en-US" sz="4000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F696DBF-FC17-75CA-A166-9E31CB7151EB}"/>
              </a:ext>
            </a:extLst>
          </p:cNvPr>
          <p:cNvSpPr/>
          <p:nvPr/>
        </p:nvSpPr>
        <p:spPr>
          <a:xfrm>
            <a:off x="870204" y="354330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8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Base-case EVs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8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by 2030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DCA30AA7-251D-2B52-7611-A45C1389F4BA}"/>
              </a:ext>
            </a:extLst>
          </p:cNvPr>
          <p:cNvSpPr/>
          <p:nvPr/>
        </p:nvSpPr>
        <p:spPr>
          <a:xfrm>
            <a:off x="4271772" y="2537460"/>
            <a:ext cx="3310128" cy="1737360"/>
          </a:xfrm>
          <a:prstGeom prst="roundRect">
            <a:avLst>
              <a:gd name="adj" fmla="val 4211"/>
            </a:avLst>
          </a:prstGeom>
          <a:solidFill>
            <a:srgbClr val="123A5C"/>
          </a:solidFill>
          <a:ln w="12700">
            <a:solidFill>
              <a:srgbClr val="1E4A6E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D827AE00-C70B-86C0-6E15-01EB9B7B50C0}"/>
              </a:ext>
            </a:extLst>
          </p:cNvPr>
          <p:cNvSpPr/>
          <p:nvPr/>
        </p:nvSpPr>
        <p:spPr>
          <a:xfrm>
            <a:off x="4500372" y="2738628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solidFill>
                  <a:srgbClr val="92D05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77.16K</a:t>
            </a:r>
            <a:endParaRPr lang="en-US" sz="4000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A626AB4-257C-553F-7FFF-0729C4753E7C}"/>
              </a:ext>
            </a:extLst>
          </p:cNvPr>
          <p:cNvSpPr/>
          <p:nvPr/>
        </p:nvSpPr>
        <p:spPr>
          <a:xfrm>
            <a:off x="4500372" y="354330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8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2030 charging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8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infrastructure gap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C442FEC4-0E9F-D9C9-5EA4-4CD4479A51F3}"/>
              </a:ext>
            </a:extLst>
          </p:cNvPr>
          <p:cNvSpPr/>
          <p:nvPr/>
        </p:nvSpPr>
        <p:spPr>
          <a:xfrm>
            <a:off x="7901940" y="2537460"/>
            <a:ext cx="3310128" cy="1737360"/>
          </a:xfrm>
          <a:prstGeom prst="roundRect">
            <a:avLst>
              <a:gd name="adj" fmla="val 4211"/>
            </a:avLst>
          </a:prstGeom>
          <a:solidFill>
            <a:srgbClr val="123A5C"/>
          </a:solidFill>
          <a:ln w="12700">
            <a:solidFill>
              <a:srgbClr val="1E4A6E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82C49E2F-9C29-7322-959B-97AF04D043B4}"/>
              </a:ext>
            </a:extLst>
          </p:cNvPr>
          <p:cNvSpPr/>
          <p:nvPr/>
        </p:nvSpPr>
        <p:spPr>
          <a:xfrm>
            <a:off x="8130540" y="2738628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solidFill>
                  <a:srgbClr val="92D05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81.1%</a:t>
            </a:r>
            <a:endParaRPr lang="en-US" sz="4000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6FB304C9-3B6C-6897-279D-A6990EE163C3}"/>
              </a:ext>
            </a:extLst>
          </p:cNvPr>
          <p:cNvSpPr/>
          <p:nvPr/>
        </p:nvSpPr>
        <p:spPr>
          <a:xfrm>
            <a:off x="8130540" y="354330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8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Gap concentrated in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8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top 10 states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E9D40B85-1566-5EB2-604D-A484F5E53232}"/>
              </a:ext>
            </a:extLst>
          </p:cNvPr>
          <p:cNvSpPr/>
          <p:nvPr/>
        </p:nvSpPr>
        <p:spPr>
          <a:xfrm>
            <a:off x="641604" y="4549140"/>
            <a:ext cx="10908792" cy="1691640"/>
          </a:xfrm>
          <a:prstGeom prst="roundRect">
            <a:avLst>
              <a:gd name="adj" fmla="val 4324"/>
            </a:avLst>
          </a:prstGeom>
          <a:solidFill>
            <a:srgbClr val="0D3049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585B94DD-381B-A734-72FA-BA126049D243}"/>
              </a:ext>
            </a:extLst>
          </p:cNvPr>
          <p:cNvSpPr/>
          <p:nvPr/>
        </p:nvSpPr>
        <p:spPr>
          <a:xfrm>
            <a:off x="961644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kern="0" spc="150" dirty="0">
                <a:solidFill>
                  <a:srgbClr val="0F8B8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PRIORITY MARKETS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AFC9D354-3437-A898-ACA7-BDFF2BE8C70D}"/>
              </a:ext>
            </a:extLst>
          </p:cNvPr>
          <p:cNvSpPr/>
          <p:nvPr/>
        </p:nvSpPr>
        <p:spPr>
          <a:xfrm>
            <a:off x="961644" y="50520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Uttar Pradesh  &amp;  Maharashtra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A2229E67-8554-46A7-E8FD-0134B9CDCC66}"/>
              </a:ext>
            </a:extLst>
          </p:cNvPr>
          <p:cNvSpPr/>
          <p:nvPr/>
        </p:nvSpPr>
        <p:spPr>
          <a:xfrm>
            <a:off x="961644" y="553669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FC2C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Opportunity scores of 0.92 and 0.51 — more than 1.7x the next-ranked state, Bihar.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B3541774-4686-5743-310A-EB73967B6A4B}"/>
              </a:ext>
            </a:extLst>
          </p:cNvPr>
          <p:cNvSpPr/>
          <p:nvPr/>
        </p:nvSpPr>
        <p:spPr>
          <a:xfrm>
            <a:off x="6356604" y="4750308"/>
            <a:ext cx="0" cy="1280160"/>
          </a:xfrm>
          <a:prstGeom prst="line">
            <a:avLst/>
          </a:prstGeom>
          <a:noFill/>
          <a:ln w="12700">
            <a:solidFill>
              <a:srgbClr val="1E4A6E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167D428A-3B00-597F-55ED-61ADAA52CE65}"/>
              </a:ext>
            </a:extLst>
          </p:cNvPr>
          <p:cNvSpPr/>
          <p:nvPr/>
        </p:nvSpPr>
        <p:spPr>
          <a:xfrm>
            <a:off x="6676644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kern="0" spc="150" dirty="0">
                <a:solidFill>
                  <a:srgbClr val="92D0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RECOMMENDATION</a:t>
            </a:r>
            <a:endParaRPr lang="en-US" sz="1100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EE990A38-D7B5-F957-D60B-F76515EA90ED}"/>
              </a:ext>
            </a:extLst>
          </p:cNvPr>
          <p:cNvSpPr/>
          <p:nvPr/>
        </p:nvSpPr>
        <p:spPr>
          <a:xfrm>
            <a:off x="6676644" y="505206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EC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Sequence charging-network capital into Uttar Pradesh and Maharashtra first — together they represent the largest and most concentrated 2030 infrastructure shortfall in the base case.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87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C4D7650-FD75-2733-7131-7BC40116422D}"/>
              </a:ext>
            </a:extLst>
          </p:cNvPr>
          <p:cNvSpPr/>
          <p:nvPr/>
        </p:nvSpPr>
        <p:spPr>
          <a:xfrm>
            <a:off x="641604" y="557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BUSINESS PROBLEM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A27C775-A521-AA0E-286C-4E9184B29774}"/>
              </a:ext>
            </a:extLst>
          </p:cNvPr>
          <p:cNvSpPr/>
          <p:nvPr/>
        </p:nvSpPr>
        <p:spPr>
          <a:xfrm>
            <a:off x="641604" y="832104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rgbClr val="92D05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Why EV Charging Infrastructure Matters</a:t>
            </a:r>
            <a:endParaRPr lang="en-US" sz="2800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8B4A1A4-B93B-89FD-16EF-441712DC9769}"/>
              </a:ext>
            </a:extLst>
          </p:cNvPr>
          <p:cNvSpPr/>
          <p:nvPr/>
        </p:nvSpPr>
        <p:spPr>
          <a:xfrm>
            <a:off x="641604" y="154533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India's EV parc is scaling faster than public charging capacity. Left unaddressed, that gap throttles adoption in exactly the states where demand is growing fastest — and it hands a durable first-mover advantage to whichever operator deploys capital there first.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0D40B76-2AD5-F288-84A3-EBED1887FE25}"/>
              </a:ext>
            </a:extLst>
          </p:cNvPr>
          <p:cNvSpPr/>
          <p:nvPr/>
        </p:nvSpPr>
        <p:spPr>
          <a:xfrm>
            <a:off x="653845" y="2505456"/>
            <a:ext cx="5257800" cy="3794760"/>
          </a:xfrm>
          <a:prstGeom prst="roundRect">
            <a:avLst>
              <a:gd name="adj" fmla="val 1687"/>
            </a:avLst>
          </a:prstGeom>
          <a:solidFill>
            <a:srgbClr val="F6F8F9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21F70A3E-DD4B-AEC6-4B7C-29184ADD8331}"/>
              </a:ext>
            </a:extLst>
          </p:cNvPr>
          <p:cNvSpPr/>
          <p:nvPr/>
        </p:nvSpPr>
        <p:spPr>
          <a:xfrm>
            <a:off x="1647444" y="2825496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1824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The Business Question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CCD1754E-96A4-5251-1A9E-C1810A7A0C4D}"/>
              </a:ext>
            </a:extLst>
          </p:cNvPr>
          <p:cNvSpPr/>
          <p:nvPr/>
        </p:nvSpPr>
        <p:spPr>
          <a:xfrm>
            <a:off x="961644" y="3785616"/>
            <a:ext cx="4617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Which Indian states offer the highest-return charging-infrastructure investment opportunity through 2030 — balancing scale of EV demand against severity of the supply shortfall?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28693567-9F61-07D0-D896-22860F8E79E6}"/>
              </a:ext>
            </a:extLst>
          </p:cNvPr>
          <p:cNvSpPr/>
          <p:nvPr/>
        </p:nvSpPr>
        <p:spPr>
          <a:xfrm>
            <a:off x="6292596" y="2505456"/>
            <a:ext cx="5257800" cy="3794760"/>
          </a:xfrm>
          <a:prstGeom prst="roundRect">
            <a:avLst>
              <a:gd name="adj" fmla="val 1687"/>
            </a:avLst>
          </a:prstGeom>
          <a:solidFill>
            <a:srgbClr val="F6F8F9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CF11DFD0-C55F-FD36-A21D-3D4B189FC962}"/>
              </a:ext>
            </a:extLst>
          </p:cNvPr>
          <p:cNvSpPr/>
          <p:nvPr/>
        </p:nvSpPr>
        <p:spPr>
          <a:xfrm>
            <a:off x="7298436" y="2825496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1824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What This Analysis Determines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204B1F56-E505-7072-FC9F-AC887FEAD9DE}"/>
              </a:ext>
            </a:extLst>
          </p:cNvPr>
          <p:cNvSpPr/>
          <p:nvPr/>
        </p:nvSpPr>
        <p:spPr>
          <a:xfrm>
            <a:off x="6612636" y="3785616"/>
            <a:ext cx="4617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ranked, state-wise investor opportunity score built from three inputs: projected 2030 EV demand, the resulting charging-infrastructure gap, and each state's share of national demand.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17404DA-2EA9-C6F0-1253-6BA8F10CE168}"/>
              </a:ext>
            </a:extLst>
          </p:cNvPr>
          <p:cNvSpPr/>
          <p:nvPr/>
        </p:nvSpPr>
        <p:spPr>
          <a:xfrm>
            <a:off x="961644" y="2930013"/>
            <a:ext cx="411480" cy="3984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  <a:endParaRPr lang="en-IN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4440467-0851-5468-FC0E-9236CA8C1E84}"/>
              </a:ext>
            </a:extLst>
          </p:cNvPr>
          <p:cNvSpPr/>
          <p:nvPr/>
        </p:nvSpPr>
        <p:spPr>
          <a:xfrm>
            <a:off x="6612636" y="2930013"/>
            <a:ext cx="411480" cy="3984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3831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12">
            <a:extLst>
              <a:ext uri="{FF2B5EF4-FFF2-40B4-BE49-F238E27FC236}">
                <a16:creationId xmlns:a16="http://schemas.microsoft.com/office/drawing/2014/main" id="{5AD3B14D-F065-0ED9-65B5-89A0C4CA7266}"/>
              </a:ext>
            </a:extLst>
          </p:cNvPr>
          <p:cNvSpPr/>
          <p:nvPr/>
        </p:nvSpPr>
        <p:spPr>
          <a:xfrm>
            <a:off x="1184300" y="3054096"/>
            <a:ext cx="822960" cy="822960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9B8ACEBD-CA43-9868-E07A-46931A6D9663}"/>
              </a:ext>
            </a:extLst>
          </p:cNvPr>
          <p:cNvSpPr/>
          <p:nvPr/>
        </p:nvSpPr>
        <p:spPr>
          <a:xfrm>
            <a:off x="5661202" y="3054096"/>
            <a:ext cx="822960" cy="822960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F2654C78-F531-7A74-36DB-A22F29638D61}"/>
              </a:ext>
            </a:extLst>
          </p:cNvPr>
          <p:cNvSpPr/>
          <p:nvPr/>
        </p:nvSpPr>
        <p:spPr>
          <a:xfrm>
            <a:off x="2668372" y="3054096"/>
            <a:ext cx="822960" cy="822960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E92A965F-13B4-37D1-9797-3873BDF8103B}"/>
              </a:ext>
            </a:extLst>
          </p:cNvPr>
          <p:cNvSpPr/>
          <p:nvPr/>
        </p:nvSpPr>
        <p:spPr>
          <a:xfrm>
            <a:off x="550164" y="557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200" dirty="0">
                <a:solidFill>
                  <a:srgbClr val="92D0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APPROACH</a:t>
            </a:r>
            <a:endParaRPr lang="en-US" sz="1200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9D34208-B921-F5DF-D123-5FC600428D5E}"/>
              </a:ext>
            </a:extLst>
          </p:cNvPr>
          <p:cNvSpPr/>
          <p:nvPr/>
        </p:nvSpPr>
        <p:spPr>
          <a:xfrm>
            <a:off x="550164" y="832104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rgbClr val="92D05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Market &amp; Methodology</a:t>
            </a:r>
            <a:endParaRPr lang="en-US" sz="2800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6FC1ADF-CAEC-001C-65A8-9C05F411BDA1}"/>
              </a:ext>
            </a:extLst>
          </p:cNvPr>
          <p:cNvSpPr/>
          <p:nvPr/>
        </p:nvSpPr>
        <p:spPr>
          <a:xfrm>
            <a:off x="550164" y="1527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seven-stage pipeline: historical EV registrations were modeled into 2030 scenarios in Python, translated into a state-wise infrastructure gap and opportunity score, cross-checked in SQL, and surfaced through an interactive Power BI dashboard.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E612B30-93DF-6D60-1CC6-9BDE0D08D9AC}"/>
              </a:ext>
            </a:extLst>
          </p:cNvPr>
          <p:cNvSpPr/>
          <p:nvPr/>
        </p:nvSpPr>
        <p:spPr>
          <a:xfrm>
            <a:off x="2281580" y="3465576"/>
            <a:ext cx="87782" cy="146304"/>
          </a:xfrm>
          <a:prstGeom prst="rightArrow">
            <a:avLst/>
          </a:prstGeom>
          <a:solidFill>
            <a:srgbClr val="C9D6DD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1929CEC2-2C35-379D-954F-AB9434789C8F}"/>
              </a:ext>
            </a:extLst>
          </p:cNvPr>
          <p:cNvSpPr/>
          <p:nvPr/>
        </p:nvSpPr>
        <p:spPr>
          <a:xfrm>
            <a:off x="1159612" y="305409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107B4A34-0EC4-9E25-64F5-723CD0554481}"/>
              </a:ext>
            </a:extLst>
          </p:cNvPr>
          <p:cNvSpPr/>
          <p:nvPr/>
        </p:nvSpPr>
        <p:spPr>
          <a:xfrm>
            <a:off x="656692" y="4014216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Historical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 Data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0844EB2B-3412-D0BF-CD65-BADEB828ACEA}"/>
              </a:ext>
            </a:extLst>
          </p:cNvPr>
          <p:cNvSpPr/>
          <p:nvPr/>
        </p:nvSpPr>
        <p:spPr>
          <a:xfrm>
            <a:off x="3790340" y="3465576"/>
            <a:ext cx="87782" cy="146304"/>
          </a:xfrm>
          <a:prstGeom prst="rightArrow">
            <a:avLst/>
          </a:prstGeom>
          <a:solidFill>
            <a:srgbClr val="C9D6DD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429D9111-6C12-C12B-D2A9-34FC0B97D235}"/>
              </a:ext>
            </a:extLst>
          </p:cNvPr>
          <p:cNvSpPr/>
          <p:nvPr/>
        </p:nvSpPr>
        <p:spPr>
          <a:xfrm>
            <a:off x="2668372" y="305409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667D76DD-56BB-5263-7CC6-598C94BB66FD}"/>
              </a:ext>
            </a:extLst>
          </p:cNvPr>
          <p:cNvSpPr/>
          <p:nvPr/>
        </p:nvSpPr>
        <p:spPr>
          <a:xfrm>
            <a:off x="2165452" y="4014216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Python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Analysis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ABF50C00-C4F2-4843-57CD-477F221A34DB}"/>
              </a:ext>
            </a:extLst>
          </p:cNvPr>
          <p:cNvSpPr/>
          <p:nvPr/>
        </p:nvSpPr>
        <p:spPr>
          <a:xfrm>
            <a:off x="5299100" y="3465576"/>
            <a:ext cx="87782" cy="146304"/>
          </a:xfrm>
          <a:prstGeom prst="rightArrow">
            <a:avLst/>
          </a:prstGeom>
          <a:solidFill>
            <a:srgbClr val="C9D6DD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49C66FA7-02B2-D171-CA54-3478FAE38D00}"/>
              </a:ext>
            </a:extLst>
          </p:cNvPr>
          <p:cNvSpPr/>
          <p:nvPr/>
        </p:nvSpPr>
        <p:spPr>
          <a:xfrm>
            <a:off x="4177132" y="3054096"/>
            <a:ext cx="822960" cy="822960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C265C5CB-C186-2D84-2ED5-AEB97B2705FA}"/>
              </a:ext>
            </a:extLst>
          </p:cNvPr>
          <p:cNvSpPr/>
          <p:nvPr/>
        </p:nvSpPr>
        <p:spPr>
          <a:xfrm>
            <a:off x="4177132" y="305409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5132D750-1665-76C7-E4ED-E191835E6E2D}"/>
              </a:ext>
            </a:extLst>
          </p:cNvPr>
          <p:cNvSpPr/>
          <p:nvPr/>
        </p:nvSpPr>
        <p:spPr>
          <a:xfrm>
            <a:off x="3674212" y="4014216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2030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Scenarios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3722B802-66D1-8381-DEBF-D61AD899BF82}"/>
              </a:ext>
            </a:extLst>
          </p:cNvPr>
          <p:cNvSpPr/>
          <p:nvPr/>
        </p:nvSpPr>
        <p:spPr>
          <a:xfrm>
            <a:off x="6807860" y="3465576"/>
            <a:ext cx="87782" cy="146304"/>
          </a:xfrm>
          <a:prstGeom prst="rightArrow">
            <a:avLst/>
          </a:prstGeom>
          <a:solidFill>
            <a:srgbClr val="C9D6DD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A98FFE9F-3E11-5917-C8A6-5A40E1F39129}"/>
              </a:ext>
            </a:extLst>
          </p:cNvPr>
          <p:cNvSpPr/>
          <p:nvPr/>
        </p:nvSpPr>
        <p:spPr>
          <a:xfrm>
            <a:off x="5182972" y="4014216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Infrastructure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Gap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9">
            <a:extLst>
              <a:ext uri="{FF2B5EF4-FFF2-40B4-BE49-F238E27FC236}">
                <a16:creationId xmlns:a16="http://schemas.microsoft.com/office/drawing/2014/main" id="{355501D6-49D0-84CD-08D5-502D7DDD373B}"/>
              </a:ext>
            </a:extLst>
          </p:cNvPr>
          <p:cNvSpPr/>
          <p:nvPr/>
        </p:nvSpPr>
        <p:spPr>
          <a:xfrm>
            <a:off x="8316620" y="3465576"/>
            <a:ext cx="87782" cy="146304"/>
          </a:xfrm>
          <a:prstGeom prst="rightArrow">
            <a:avLst/>
          </a:prstGeom>
          <a:solidFill>
            <a:srgbClr val="C9D6DD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58F2240C-8D87-3889-8473-65AFAE646C0A}"/>
              </a:ext>
            </a:extLst>
          </p:cNvPr>
          <p:cNvSpPr/>
          <p:nvPr/>
        </p:nvSpPr>
        <p:spPr>
          <a:xfrm>
            <a:off x="7194652" y="3054096"/>
            <a:ext cx="822960" cy="822960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22">
            <a:extLst>
              <a:ext uri="{FF2B5EF4-FFF2-40B4-BE49-F238E27FC236}">
                <a16:creationId xmlns:a16="http://schemas.microsoft.com/office/drawing/2014/main" id="{1152AF1E-2395-9DBA-83CF-E11726450707}"/>
              </a:ext>
            </a:extLst>
          </p:cNvPr>
          <p:cNvSpPr/>
          <p:nvPr/>
        </p:nvSpPr>
        <p:spPr>
          <a:xfrm>
            <a:off x="6691732" y="4014216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Investor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Opportunity Score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23">
            <a:extLst>
              <a:ext uri="{FF2B5EF4-FFF2-40B4-BE49-F238E27FC236}">
                <a16:creationId xmlns:a16="http://schemas.microsoft.com/office/drawing/2014/main" id="{577DFA59-B3EC-5100-1370-C56FBA397FFC}"/>
              </a:ext>
            </a:extLst>
          </p:cNvPr>
          <p:cNvSpPr/>
          <p:nvPr/>
        </p:nvSpPr>
        <p:spPr>
          <a:xfrm>
            <a:off x="9825380" y="3465576"/>
            <a:ext cx="87782" cy="146304"/>
          </a:xfrm>
          <a:prstGeom prst="rightArrow">
            <a:avLst/>
          </a:prstGeom>
          <a:solidFill>
            <a:srgbClr val="C9D6DD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4">
            <a:extLst>
              <a:ext uri="{FF2B5EF4-FFF2-40B4-BE49-F238E27FC236}">
                <a16:creationId xmlns:a16="http://schemas.microsoft.com/office/drawing/2014/main" id="{4A2B2006-3503-83B2-C496-60F90977963A}"/>
              </a:ext>
            </a:extLst>
          </p:cNvPr>
          <p:cNvSpPr/>
          <p:nvPr/>
        </p:nvSpPr>
        <p:spPr>
          <a:xfrm>
            <a:off x="8703412" y="3054096"/>
            <a:ext cx="822960" cy="822960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6">
            <a:extLst>
              <a:ext uri="{FF2B5EF4-FFF2-40B4-BE49-F238E27FC236}">
                <a16:creationId xmlns:a16="http://schemas.microsoft.com/office/drawing/2014/main" id="{3A83C4FA-984E-F2B2-8CE5-D4BA4D9D52C5}"/>
              </a:ext>
            </a:extLst>
          </p:cNvPr>
          <p:cNvSpPr/>
          <p:nvPr/>
        </p:nvSpPr>
        <p:spPr>
          <a:xfrm>
            <a:off x="8200492" y="4014216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SQL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Validation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7">
            <a:extLst>
              <a:ext uri="{FF2B5EF4-FFF2-40B4-BE49-F238E27FC236}">
                <a16:creationId xmlns:a16="http://schemas.microsoft.com/office/drawing/2014/main" id="{F0F65E12-2EDA-00EF-F94B-9352F351D6EB}"/>
              </a:ext>
            </a:extLst>
          </p:cNvPr>
          <p:cNvSpPr/>
          <p:nvPr/>
        </p:nvSpPr>
        <p:spPr>
          <a:xfrm>
            <a:off x="10212172" y="3054096"/>
            <a:ext cx="822960" cy="822960"/>
          </a:xfrm>
          <a:prstGeom prst="ellipse">
            <a:avLst/>
          </a:prstGeom>
          <a:solidFill>
            <a:srgbClr val="C6FF00"/>
          </a:solidFill>
          <a:ln/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9">
            <a:extLst>
              <a:ext uri="{FF2B5EF4-FFF2-40B4-BE49-F238E27FC236}">
                <a16:creationId xmlns:a16="http://schemas.microsoft.com/office/drawing/2014/main" id="{9B5C8236-58D3-CC76-A2D2-09FF1AE4CC79}"/>
              </a:ext>
            </a:extLst>
          </p:cNvPr>
          <p:cNvSpPr/>
          <p:nvPr/>
        </p:nvSpPr>
        <p:spPr>
          <a:xfrm>
            <a:off x="9709252" y="4014216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Power BI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Dashboard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30">
            <a:extLst>
              <a:ext uri="{FF2B5EF4-FFF2-40B4-BE49-F238E27FC236}">
                <a16:creationId xmlns:a16="http://schemas.microsoft.com/office/drawing/2014/main" id="{5568C0E0-9978-EF18-6935-BAA2309D583F}"/>
              </a:ext>
            </a:extLst>
          </p:cNvPr>
          <p:cNvSpPr/>
          <p:nvPr/>
        </p:nvSpPr>
        <p:spPr>
          <a:xfrm>
            <a:off x="550164" y="5431536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E4F3F3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31">
            <a:extLst>
              <a:ext uri="{FF2B5EF4-FFF2-40B4-BE49-F238E27FC236}">
                <a16:creationId xmlns:a16="http://schemas.microsoft.com/office/drawing/2014/main" id="{514D2B4F-B7EA-37EA-EF92-CEAC4808704F}"/>
              </a:ext>
            </a:extLst>
          </p:cNvPr>
          <p:cNvSpPr/>
          <p:nvPr/>
        </p:nvSpPr>
        <p:spPr>
          <a:xfrm>
            <a:off x="870204" y="5431536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0B3D3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Three demand scenarios (Conservative / Base / Aggressive) were built to stress-test the opportunity ranking, so recommendations hold even if EV adoption undershoots or overshoots the base case.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A742E498-EF3D-D04D-B8B1-1AF0BEF02A81}"/>
              </a:ext>
            </a:extLst>
          </p:cNvPr>
          <p:cNvSpPr/>
          <p:nvPr/>
        </p:nvSpPr>
        <p:spPr>
          <a:xfrm>
            <a:off x="9706508" y="4032504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Power BI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Dashboard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099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55F83DE-72F8-A426-AD9D-A5EE494DB96E}"/>
              </a:ext>
            </a:extLst>
          </p:cNvPr>
          <p:cNvSpPr/>
          <p:nvPr/>
        </p:nvSpPr>
        <p:spPr>
          <a:xfrm>
            <a:off x="54102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DEMAND MODELING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C507844-7008-2313-E6A2-422C286EC5E1}"/>
              </a:ext>
            </a:extLst>
          </p:cNvPr>
          <p:cNvSpPr/>
          <p:nvPr/>
        </p:nvSpPr>
        <p:spPr>
          <a:xfrm>
            <a:off x="541020" y="84124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rgbClr val="92D05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India EV Market Outlook, 2025–2030</a:t>
            </a:r>
            <a:endParaRPr lang="en-US" sz="2800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0FACB38-A3DE-B171-05E6-B5480752112F}"/>
              </a:ext>
            </a:extLst>
          </p:cNvPr>
          <p:cNvSpPr/>
          <p:nvPr/>
        </p:nvSpPr>
        <p:spPr>
          <a:xfrm>
            <a:off x="541020" y="1536192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Historical registration growth was projected forward under three adoption scenarios. The base case — used throughout this analysis — reaches 19.22M EVs on the road by 2030.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FF11457-B98E-972E-BE12-36D970EA8E18}"/>
              </a:ext>
            </a:extLst>
          </p:cNvPr>
          <p:cNvSpPr/>
          <p:nvPr/>
        </p:nvSpPr>
        <p:spPr>
          <a:xfrm>
            <a:off x="8221980" y="2377440"/>
            <a:ext cx="3429000" cy="1170432"/>
          </a:xfrm>
          <a:prstGeom prst="roundRect">
            <a:avLst>
              <a:gd name="adj" fmla="val 5469"/>
            </a:avLst>
          </a:prstGeom>
          <a:solidFill>
            <a:srgbClr val="F6F8F9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DF1CF88C-D1F7-C8D4-E174-37F9B9F0B8C6}"/>
              </a:ext>
            </a:extLst>
          </p:cNvPr>
          <p:cNvSpPr/>
          <p:nvPr/>
        </p:nvSpPr>
        <p:spPr>
          <a:xfrm>
            <a:off x="8478012" y="25237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kern="0" spc="100" dirty="0">
                <a:solidFill>
                  <a:srgbClr val="5B6B7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CONSERVATIVE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2616ADBE-BE7B-CF4C-19F1-6DB87F2AB90C}"/>
              </a:ext>
            </a:extLst>
          </p:cNvPr>
          <p:cNvSpPr/>
          <p:nvPr/>
        </p:nvSpPr>
        <p:spPr>
          <a:xfrm>
            <a:off x="8478012" y="2788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rgbClr val="1824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12.72M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252A2667-2736-386E-CD18-6DEF9AE86B0F}"/>
              </a:ext>
            </a:extLst>
          </p:cNvPr>
          <p:cNvSpPr/>
          <p:nvPr/>
        </p:nvSpPr>
        <p:spPr>
          <a:xfrm>
            <a:off x="8221980" y="3749040"/>
            <a:ext cx="3429000" cy="1170432"/>
          </a:xfrm>
          <a:prstGeom prst="roundRect">
            <a:avLst>
              <a:gd name="adj" fmla="val 5469"/>
            </a:avLst>
          </a:prstGeom>
          <a:solidFill>
            <a:srgbClr val="F6F8F9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D47F364F-3608-498A-4CD0-3FD1BD733725}"/>
              </a:ext>
            </a:extLst>
          </p:cNvPr>
          <p:cNvSpPr/>
          <p:nvPr/>
        </p:nvSpPr>
        <p:spPr>
          <a:xfrm>
            <a:off x="8478012" y="38953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kern="0" spc="100" dirty="0">
                <a:solidFill>
                  <a:srgbClr val="5B6B7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BASE CASE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FDFF76D8-4CCC-2CC6-0EE9-827E67C06173}"/>
              </a:ext>
            </a:extLst>
          </p:cNvPr>
          <p:cNvSpPr/>
          <p:nvPr/>
        </p:nvSpPr>
        <p:spPr>
          <a:xfrm>
            <a:off x="8478012" y="4160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rgbClr val="1824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19.22M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220BAAEE-D731-2DED-486A-21162AE68B60}"/>
              </a:ext>
            </a:extLst>
          </p:cNvPr>
          <p:cNvSpPr/>
          <p:nvPr/>
        </p:nvSpPr>
        <p:spPr>
          <a:xfrm>
            <a:off x="8221980" y="5120640"/>
            <a:ext cx="3429000" cy="1170432"/>
          </a:xfrm>
          <a:prstGeom prst="roundRect">
            <a:avLst>
              <a:gd name="adj" fmla="val 5469"/>
            </a:avLst>
          </a:prstGeom>
          <a:solidFill>
            <a:srgbClr val="F6F8F9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64C7A7A5-71E9-3C7F-DB2E-BF15761235AC}"/>
              </a:ext>
            </a:extLst>
          </p:cNvPr>
          <p:cNvSpPr/>
          <p:nvPr/>
        </p:nvSpPr>
        <p:spPr>
          <a:xfrm>
            <a:off x="8478012" y="52669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kern="0" spc="100" dirty="0">
                <a:solidFill>
                  <a:srgbClr val="5B6B7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AGGRESSIVE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18E4C8FE-5A31-7FB7-1501-691D71E84A5F}"/>
              </a:ext>
            </a:extLst>
          </p:cNvPr>
          <p:cNvSpPr/>
          <p:nvPr/>
        </p:nvSpPr>
        <p:spPr>
          <a:xfrm>
            <a:off x="8478012" y="5532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rgbClr val="1824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29.33M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8408AA1-9D19-A4A3-96B0-C65B260ED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077" y="2313432"/>
            <a:ext cx="6027175" cy="423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270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2FDE828-E836-62DA-AEC7-19D4F6686034}"/>
              </a:ext>
            </a:extLst>
          </p:cNvPr>
          <p:cNvSpPr/>
          <p:nvPr/>
        </p:nvSpPr>
        <p:spPr>
          <a:xfrm>
            <a:off x="586740" y="3337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200" dirty="0">
                <a:solidFill>
                  <a:srgbClr val="92D0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STATE-LEVEL RANKING</a:t>
            </a:r>
            <a:endParaRPr lang="en-US" sz="1200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4133041-D8C3-70FF-C416-587814C3240E}"/>
              </a:ext>
            </a:extLst>
          </p:cNvPr>
          <p:cNvSpPr/>
          <p:nvPr/>
        </p:nvSpPr>
        <p:spPr>
          <a:xfrm>
            <a:off x="586740" y="608076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rgbClr val="92D05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State Investment Opportunity</a:t>
            </a:r>
            <a:endParaRPr lang="en-US" sz="2600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C2A15404-A53F-0E53-9912-87C79C097B47}"/>
              </a:ext>
            </a:extLst>
          </p:cNvPr>
          <p:cNvSpPr/>
          <p:nvPr/>
        </p:nvSpPr>
        <p:spPr>
          <a:xfrm>
            <a:off x="623316" y="580619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Power BI — State Investment Opportunity page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BEAC9611-2A74-8746-EB87-6D623EAF307B}"/>
              </a:ext>
            </a:extLst>
          </p:cNvPr>
          <p:cNvSpPr/>
          <p:nvPr/>
        </p:nvSpPr>
        <p:spPr>
          <a:xfrm>
            <a:off x="7627620" y="129820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400" b="1" kern="0" spc="100" dirty="0">
                <a:solidFill>
                  <a:srgbClr val="92D0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UP, MAHARASHTRA &amp; BIHAR STAND OUT</a:t>
            </a:r>
            <a:endParaRPr lang="en-US" sz="1400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F71D8633-573B-58C8-8B4D-6FBC108F13A4}"/>
              </a:ext>
            </a:extLst>
          </p:cNvPr>
          <p:cNvSpPr/>
          <p:nvPr/>
        </p:nvSpPr>
        <p:spPr>
          <a:xfrm>
            <a:off x="7627620" y="1901706"/>
            <a:ext cx="100584" cy="100584"/>
          </a:xfrm>
          <a:prstGeom prst="ellipse">
            <a:avLst/>
          </a:prstGeom>
          <a:solidFill>
            <a:srgbClr val="C6FF00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1578DA8-0804-704D-329E-FA6785D13C31}"/>
              </a:ext>
            </a:extLst>
          </p:cNvPr>
          <p:cNvSpPr/>
          <p:nvPr/>
        </p:nvSpPr>
        <p:spPr>
          <a:xfrm>
            <a:off x="7883652" y="1791978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Uttar Pradesh — 0.92 score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26A16960-D413-08A3-22D9-EBFD723AC9D0}"/>
              </a:ext>
            </a:extLst>
          </p:cNvPr>
          <p:cNvSpPr/>
          <p:nvPr/>
        </p:nvSpPr>
        <p:spPr>
          <a:xfrm>
            <a:off x="7883652" y="2084586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Largest projected 2030 EV base (5.21M) and largest absolute gap (16,659 units), at High Pressure.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D60DFFE6-4772-DB7F-C068-08BF9514692F}"/>
              </a:ext>
            </a:extLst>
          </p:cNvPr>
          <p:cNvSpPr/>
          <p:nvPr/>
        </p:nvSpPr>
        <p:spPr>
          <a:xfrm>
            <a:off x="7627620" y="3072138"/>
            <a:ext cx="100584" cy="100584"/>
          </a:xfrm>
          <a:prstGeom prst="ellipse">
            <a:avLst/>
          </a:prstGeom>
          <a:solidFill>
            <a:srgbClr val="C6FF00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D549B1A-6F66-8EED-5CB6-AD17118A34C4}"/>
              </a:ext>
            </a:extLst>
          </p:cNvPr>
          <p:cNvSpPr/>
          <p:nvPr/>
        </p:nvSpPr>
        <p:spPr>
          <a:xfrm>
            <a:off x="7883652" y="2962410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Maharashtra — 0.51 score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F3DCDC55-D58C-0E9E-B0A1-588156F189E5}"/>
              </a:ext>
            </a:extLst>
          </p:cNvPr>
          <p:cNvSpPr/>
          <p:nvPr/>
        </p:nvSpPr>
        <p:spPr>
          <a:xfrm>
            <a:off x="7883652" y="3255018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Second-largest demand (3.72M EVs) with a comparatively Low-Pressure index — an easier build-out.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8091742B-9903-ADF5-43CA-DD2DBD9F9D8E}"/>
              </a:ext>
            </a:extLst>
          </p:cNvPr>
          <p:cNvSpPr/>
          <p:nvPr/>
        </p:nvSpPr>
        <p:spPr>
          <a:xfrm>
            <a:off x="7627620" y="4242570"/>
            <a:ext cx="100584" cy="100584"/>
          </a:xfrm>
          <a:prstGeom prst="ellipse">
            <a:avLst/>
          </a:prstGeom>
          <a:solidFill>
            <a:srgbClr val="C6FF00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3025B384-E103-C608-034B-31917A3304E6}"/>
              </a:ext>
            </a:extLst>
          </p:cNvPr>
          <p:cNvSpPr/>
          <p:nvPr/>
        </p:nvSpPr>
        <p:spPr>
          <a:xfrm>
            <a:off x="7883652" y="4132842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Bihar — 0.33 score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1D715286-CCA9-C1D4-3882-1BEA16C12564}"/>
              </a:ext>
            </a:extLst>
          </p:cNvPr>
          <p:cNvSpPr/>
          <p:nvPr/>
        </p:nvSpPr>
        <p:spPr>
          <a:xfrm>
            <a:off x="7883652" y="4425450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Smaller EV base but the highest Pressure Index in the top 10 (3.24) — supply is critically behind demand.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7A219473-4536-9EA1-E23F-F13F525E641F}"/>
              </a:ext>
            </a:extLst>
          </p:cNvPr>
          <p:cNvSpPr/>
          <p:nvPr/>
        </p:nvSpPr>
        <p:spPr>
          <a:xfrm>
            <a:off x="7627620" y="5403858"/>
            <a:ext cx="3657600" cy="1051560"/>
          </a:xfrm>
          <a:prstGeom prst="roundRect">
            <a:avLst>
              <a:gd name="adj" fmla="val 6087"/>
            </a:avLst>
          </a:prstGeom>
          <a:solidFill>
            <a:srgbClr val="0A2540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B5D1955B-46C6-A1EA-17B4-C42BB3F6A1E5}"/>
              </a:ext>
            </a:extLst>
          </p:cNvPr>
          <p:cNvSpPr/>
          <p:nvPr/>
        </p:nvSpPr>
        <p:spPr>
          <a:xfrm>
            <a:off x="7828788" y="5403858"/>
            <a:ext cx="3255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CBD8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Pressure Index = 2030 gap relative to existing base — a proxy for how urgently a state needs new capacity, independent of its size.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6BF7875-A6EF-042A-680B-945707B60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45" y="1298202"/>
            <a:ext cx="7119722" cy="450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044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A0C486D-8493-C4F7-30B3-9A2B1036998B}"/>
              </a:ext>
            </a:extLst>
          </p:cNvPr>
          <p:cNvSpPr/>
          <p:nvPr/>
        </p:nvSpPr>
        <p:spPr>
          <a:xfrm>
            <a:off x="563880" y="5623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SIZING THE OPPORTUNITY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928EDE1-98FC-654C-1019-0412BEFC90AF}"/>
              </a:ext>
            </a:extLst>
          </p:cNvPr>
          <p:cNvSpPr/>
          <p:nvPr/>
        </p:nvSpPr>
        <p:spPr>
          <a:xfrm>
            <a:off x="563880" y="836676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rgbClr val="92D05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Infrastructure &amp; Investment Scenarios</a:t>
            </a:r>
            <a:endParaRPr lang="en-US" sz="2600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9C0D75DC-6C9B-BDEF-F0F8-F9C076EAE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" y="1586484"/>
            <a:ext cx="7388352" cy="4273542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1096FC8F-5ECC-E943-8ED6-1E39EE45DEB2}"/>
              </a:ext>
            </a:extLst>
          </p:cNvPr>
          <p:cNvSpPr/>
          <p:nvPr/>
        </p:nvSpPr>
        <p:spPr>
          <a:xfrm>
            <a:off x="563880" y="615848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Power BI — 2030 Investment Scenarios page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0769E96-D435-62B9-CE94-E8F1BE28249A}"/>
              </a:ext>
            </a:extLst>
          </p:cNvPr>
          <p:cNvSpPr/>
          <p:nvPr/>
        </p:nvSpPr>
        <p:spPr>
          <a:xfrm>
            <a:off x="8107680" y="1595628"/>
            <a:ext cx="3566160" cy="1481328"/>
          </a:xfrm>
          <a:prstGeom prst="roundRect">
            <a:avLst>
              <a:gd name="adj" fmla="val 4321"/>
            </a:avLst>
          </a:prstGeom>
          <a:solidFill>
            <a:srgbClr val="F6F8F9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AC9393E-4A9D-E2E5-42F8-5C1D6B00416E}"/>
              </a:ext>
            </a:extLst>
          </p:cNvPr>
          <p:cNvSpPr/>
          <p:nvPr/>
        </p:nvSpPr>
        <p:spPr>
          <a:xfrm>
            <a:off x="8308848" y="172364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kern="0" spc="100" dirty="0">
                <a:solidFill>
                  <a:srgbClr val="92D0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INFRASTRUCTURE REQUIREMENT</a:t>
            </a:r>
            <a:endParaRPr lang="en-US" sz="1000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E171E4C-A755-805D-BFA8-5BDE626BEB28}"/>
              </a:ext>
            </a:extLst>
          </p:cNvPr>
          <p:cNvSpPr/>
          <p:nvPr/>
        </p:nvSpPr>
        <p:spPr>
          <a:xfrm>
            <a:off x="8308848" y="1961388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1824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482K → 160K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2EEF48E-7B91-A35C-A081-49393C86AE3B}"/>
              </a:ext>
            </a:extLst>
          </p:cNvPr>
          <p:cNvSpPr/>
          <p:nvPr/>
        </p:nvSpPr>
        <p:spPr>
          <a:xfrm>
            <a:off x="8308848" y="2372868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Required charging points range from 160K (Conservative) to 482K (Aggressive) by 2030.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A744B64-5A48-C48C-C827-5C9733BB1845}"/>
              </a:ext>
            </a:extLst>
          </p:cNvPr>
          <p:cNvSpPr/>
          <p:nvPr/>
        </p:nvSpPr>
        <p:spPr>
          <a:xfrm>
            <a:off x="8107680" y="3204972"/>
            <a:ext cx="3566160" cy="1481328"/>
          </a:xfrm>
          <a:prstGeom prst="roundRect">
            <a:avLst>
              <a:gd name="adj" fmla="val 4321"/>
            </a:avLst>
          </a:prstGeom>
          <a:solidFill>
            <a:srgbClr val="F6F8F9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21C771C-9F40-9F8F-305A-7B3753E589C7}"/>
              </a:ext>
            </a:extLst>
          </p:cNvPr>
          <p:cNvSpPr/>
          <p:nvPr/>
        </p:nvSpPr>
        <p:spPr>
          <a:xfrm>
            <a:off x="8308848" y="3332988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kern="0" spc="100" dirty="0">
                <a:solidFill>
                  <a:srgbClr val="92D0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INVESTMENT REQUIREMENT</a:t>
            </a:r>
            <a:endParaRPr lang="en-US" sz="1000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328675F-BA36-A660-4840-07261C735EC2}"/>
              </a:ext>
            </a:extLst>
          </p:cNvPr>
          <p:cNvSpPr/>
          <p:nvPr/>
        </p:nvSpPr>
        <p:spPr>
          <a:xfrm>
            <a:off x="8308848" y="3570732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1824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13.4K Cr → 113.8K Cr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885EADB-7C30-8F1D-DF33-3E368AA2196B}"/>
              </a:ext>
            </a:extLst>
          </p:cNvPr>
          <p:cNvSpPr/>
          <p:nvPr/>
        </p:nvSpPr>
        <p:spPr>
          <a:xfrm>
            <a:off x="8308848" y="3982212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Capital need scales non-linearly with adoption — Aggressive demands 8.5x Conservative-case spend.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69B8428-09EC-F02F-1B50-5DDD6FF04090}"/>
              </a:ext>
            </a:extLst>
          </p:cNvPr>
          <p:cNvSpPr/>
          <p:nvPr/>
        </p:nvSpPr>
        <p:spPr>
          <a:xfrm>
            <a:off x="8107680" y="4814316"/>
            <a:ext cx="3566160" cy="1481328"/>
          </a:xfrm>
          <a:prstGeom prst="roundRect">
            <a:avLst>
              <a:gd name="adj" fmla="val 4321"/>
            </a:avLst>
          </a:prstGeom>
          <a:solidFill>
            <a:srgbClr val="F6F8F9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0ADC8CC-DDCB-24EA-E0D9-32CCAD0911B1}"/>
              </a:ext>
            </a:extLst>
          </p:cNvPr>
          <p:cNvSpPr/>
          <p:nvPr/>
        </p:nvSpPr>
        <p:spPr>
          <a:xfrm>
            <a:off x="8308848" y="4942332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kern="0" spc="100" dirty="0">
                <a:solidFill>
                  <a:srgbClr val="92D0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SCENARIO COMPARISON</a:t>
            </a:r>
            <a:endParaRPr lang="en-US" sz="1000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15A342A-58ED-35FB-DD13-ECAF1A39C31E}"/>
              </a:ext>
            </a:extLst>
          </p:cNvPr>
          <p:cNvSpPr/>
          <p:nvPr/>
        </p:nvSpPr>
        <p:spPr>
          <a:xfrm>
            <a:off x="8308848" y="5180076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1824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3 Cases Modeled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48E5569-CCB1-5654-D4C9-8F753AA78786}"/>
              </a:ext>
            </a:extLst>
          </p:cNvPr>
          <p:cNvSpPr/>
          <p:nvPr/>
        </p:nvSpPr>
        <p:spPr>
          <a:xfrm>
            <a:off x="8308848" y="5591556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Additional infrastructure tracks tightly with required infrastructure in every scenario — the gap is a supply problem, not a demand-forecasting one.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629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1D9A854-2B3C-B287-9DDC-BCD62BA79576}"/>
              </a:ext>
            </a:extLst>
          </p:cNvPr>
          <p:cNvSpPr/>
          <p:nvPr/>
        </p:nvSpPr>
        <p:spPr>
          <a:xfrm>
            <a:off x="637032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200" dirty="0">
                <a:solidFill>
                  <a:srgbClr val="92D0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CLOSING</a:t>
            </a:r>
            <a:endParaRPr lang="en-US" sz="1200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F73FF57-1D15-EEC1-D4DE-FE751C1B35ED}"/>
              </a:ext>
            </a:extLst>
          </p:cNvPr>
          <p:cNvSpPr/>
          <p:nvPr/>
        </p:nvSpPr>
        <p:spPr>
          <a:xfrm>
            <a:off x="637032" y="822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Prioritization &amp; Assumptions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9851F4B-17C9-520F-E1A0-15BDAB4B1A83}"/>
              </a:ext>
            </a:extLst>
          </p:cNvPr>
          <p:cNvSpPr/>
          <p:nvPr/>
        </p:nvSpPr>
        <p:spPr>
          <a:xfrm>
            <a:off x="426720" y="1481328"/>
            <a:ext cx="11091672" cy="1234440"/>
          </a:xfrm>
          <a:prstGeom prst="roundRect">
            <a:avLst>
              <a:gd name="adj" fmla="val 5926"/>
            </a:avLst>
          </a:prstGeom>
          <a:solidFill>
            <a:schemeClr val="tx1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2439C5D-5C06-4F73-6A3C-97761CA13DDB}"/>
              </a:ext>
            </a:extLst>
          </p:cNvPr>
          <p:cNvSpPr/>
          <p:nvPr/>
        </p:nvSpPr>
        <p:spPr>
          <a:xfrm>
            <a:off x="865632" y="16459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kern="0" spc="150" dirty="0">
                <a:solidFill>
                  <a:srgbClr val="92D0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01  —  PRIORITIZE</a:t>
            </a:r>
            <a:endParaRPr lang="en-US" sz="1100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8DEC83E-77FA-93F3-ED20-A1FC2B80834D}"/>
              </a:ext>
            </a:extLst>
          </p:cNvPr>
          <p:cNvSpPr/>
          <p:nvPr/>
        </p:nvSpPr>
        <p:spPr>
          <a:xfrm>
            <a:off x="865632" y="1883664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Uttar Pradesh &amp; Maharashtra</a:t>
            </a:r>
            <a:endParaRPr lang="en-US" sz="1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1184149-192D-ACB8-A9DF-7DDE76D01E27}"/>
              </a:ext>
            </a:extLst>
          </p:cNvPr>
          <p:cNvSpPr/>
          <p:nvPr/>
        </p:nvSpPr>
        <p:spPr>
          <a:xfrm>
            <a:off x="865632" y="22860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Together, these markets represent the strongest combination of projected EV demand and infrastructure shortfall</a:t>
            </a:r>
            <a:r>
              <a:rPr lang="en-US" sz="1100" dirty="0">
                <a:solidFill>
                  <a:srgbClr val="AFC2C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6D7D9FB-CF10-2A4D-A26C-49987FB363B1}"/>
              </a:ext>
            </a:extLst>
          </p:cNvPr>
          <p:cNvSpPr/>
          <p:nvPr/>
        </p:nvSpPr>
        <p:spPr>
          <a:xfrm>
            <a:off x="7568184" y="1682496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22585A"/>
          </a:solidFill>
          <a:ln w="12700">
            <a:solidFill>
              <a:srgbClr val="1E4A6E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C2E8CEB-C071-5920-51EB-5B6E5A01BCF0}"/>
              </a:ext>
            </a:extLst>
          </p:cNvPr>
          <p:cNvSpPr/>
          <p:nvPr/>
        </p:nvSpPr>
        <p:spPr>
          <a:xfrm>
            <a:off x="7714488" y="177393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kern="0" spc="50" dirty="0">
                <a:solidFill>
                  <a:srgbClr val="7FB3C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UTTAR PRADESH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112C130-F87F-959D-5F2E-2E25D568175C}"/>
              </a:ext>
            </a:extLst>
          </p:cNvPr>
          <p:cNvSpPr/>
          <p:nvPr/>
        </p:nvSpPr>
        <p:spPr>
          <a:xfrm>
            <a:off x="7714488" y="197510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92D05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0.92</a:t>
            </a:r>
            <a:endParaRPr lang="en-US" sz="2400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C016CF0-5903-AA39-1F8C-77434DBD9B03}"/>
              </a:ext>
            </a:extLst>
          </p:cNvPr>
          <p:cNvSpPr/>
          <p:nvPr/>
        </p:nvSpPr>
        <p:spPr>
          <a:xfrm>
            <a:off x="9534144" y="1682496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235556"/>
          </a:solidFill>
          <a:ln w="12700">
            <a:solidFill>
              <a:srgbClr val="1E4A6E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3956F94-F95E-322F-0180-4AFE93D8386B}"/>
              </a:ext>
            </a:extLst>
          </p:cNvPr>
          <p:cNvSpPr/>
          <p:nvPr/>
        </p:nvSpPr>
        <p:spPr>
          <a:xfrm>
            <a:off x="9680448" y="177393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kern="0" spc="50" dirty="0">
                <a:solidFill>
                  <a:srgbClr val="7FB3C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MAHARASHTRA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61D41F7-9D8D-8CB2-4837-7626407D789B}"/>
              </a:ext>
            </a:extLst>
          </p:cNvPr>
          <p:cNvSpPr/>
          <p:nvPr/>
        </p:nvSpPr>
        <p:spPr>
          <a:xfrm>
            <a:off x="9680448" y="197510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92D05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0.51</a:t>
            </a:r>
            <a:endParaRPr lang="en-US" sz="2400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2ACF106-A78C-2D1B-E072-AE446A7765FC}"/>
              </a:ext>
            </a:extLst>
          </p:cNvPr>
          <p:cNvSpPr/>
          <p:nvPr/>
        </p:nvSpPr>
        <p:spPr>
          <a:xfrm>
            <a:off x="545592" y="2898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150" dirty="0">
                <a:solidFill>
                  <a:srgbClr val="92D0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ASSUMPTIONS</a:t>
            </a:r>
            <a:endParaRPr lang="en-US" sz="1200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FDD62EA-50FA-0A8A-EA80-8E6ADDD47EE8}"/>
              </a:ext>
            </a:extLst>
          </p:cNvPr>
          <p:cNvSpPr/>
          <p:nvPr/>
        </p:nvSpPr>
        <p:spPr>
          <a:xfrm>
            <a:off x="545592" y="3246120"/>
            <a:ext cx="3529584" cy="3108960"/>
          </a:xfrm>
          <a:prstGeom prst="roundRect">
            <a:avLst>
              <a:gd name="adj" fmla="val 2059"/>
            </a:avLst>
          </a:prstGeom>
          <a:solidFill>
            <a:schemeClr val="tx1"/>
          </a:solidFill>
          <a:ln w="12700">
            <a:solidFill>
              <a:srgbClr val="1E4A6E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418F784-C863-C01D-36E5-E328A4A69FCD}"/>
              </a:ext>
            </a:extLst>
          </p:cNvPr>
          <p:cNvSpPr/>
          <p:nvPr/>
        </p:nvSpPr>
        <p:spPr>
          <a:xfrm>
            <a:off x="765048" y="344728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 Adoption</a:t>
            </a:r>
            <a:endParaRPr lang="en-US" sz="13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9993AF19-2C89-A7FD-DCD1-7EDA09604292}"/>
              </a:ext>
            </a:extLst>
          </p:cNvPr>
          <p:cNvSpPr/>
          <p:nvPr/>
        </p:nvSpPr>
        <p:spPr>
          <a:xfrm>
            <a:off x="776208" y="4282784"/>
            <a:ext cx="64008" cy="64008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38D573A3-B494-A8C8-885F-E580C57F68EF}"/>
              </a:ext>
            </a:extLst>
          </p:cNvPr>
          <p:cNvSpPr/>
          <p:nvPr/>
        </p:nvSpPr>
        <p:spPr>
          <a:xfrm>
            <a:off x="947928" y="4059936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2020–2024 historical EV registrations form the basis for the 2030 forecast.</a:t>
            </a:r>
            <a:endParaRPr lang="en-US" sz="10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45CADA53-F9F1-92BD-708A-30F6FE8CDBFC}"/>
              </a:ext>
            </a:extLst>
          </p:cNvPr>
          <p:cNvSpPr/>
          <p:nvPr/>
        </p:nvSpPr>
        <p:spPr>
          <a:xfrm>
            <a:off x="765048" y="4988052"/>
            <a:ext cx="64008" cy="64008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A3A1C509-4C8F-CBB6-CB08-430BD64FE05B}"/>
              </a:ext>
            </a:extLst>
          </p:cNvPr>
          <p:cNvSpPr/>
          <p:nvPr/>
        </p:nvSpPr>
        <p:spPr>
          <a:xfrm>
            <a:off x="947928" y="4773168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Three adoption scenarios are modeled: Conservative, Base and Aggressive.</a:t>
            </a:r>
            <a:endParaRPr lang="en-US" sz="10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D5FC6C3F-4B78-C018-405A-EBD81BBE84C6}"/>
              </a:ext>
            </a:extLst>
          </p:cNvPr>
          <p:cNvSpPr/>
          <p:nvPr/>
        </p:nvSpPr>
        <p:spPr>
          <a:xfrm>
            <a:off x="776208" y="5797296"/>
            <a:ext cx="64008" cy="64008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37C3B08D-B922-AAC8-BF74-4BE9389DE588}"/>
              </a:ext>
            </a:extLst>
          </p:cNvPr>
          <p:cNvSpPr/>
          <p:nvPr/>
        </p:nvSpPr>
        <p:spPr>
          <a:xfrm>
            <a:off x="947928" y="5486400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Base case reaches 19.22M EVs by 2030.</a:t>
            </a:r>
            <a:endParaRPr lang="en-US" sz="10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FF12324A-7947-CB3C-F88D-430D90BD1E1A}"/>
              </a:ext>
            </a:extLst>
          </p:cNvPr>
          <p:cNvSpPr/>
          <p:nvPr/>
        </p:nvSpPr>
        <p:spPr>
          <a:xfrm>
            <a:off x="4331208" y="3246120"/>
            <a:ext cx="3529584" cy="3108960"/>
          </a:xfrm>
          <a:prstGeom prst="roundRect">
            <a:avLst>
              <a:gd name="adj" fmla="val 2059"/>
            </a:avLst>
          </a:prstGeom>
          <a:solidFill>
            <a:schemeClr val="tx1"/>
          </a:solidFill>
          <a:ln w="12700">
            <a:solidFill>
              <a:srgbClr val="1E4A6E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FBBEE685-1712-EDB7-EE6B-DF9A6727BAAD}"/>
              </a:ext>
            </a:extLst>
          </p:cNvPr>
          <p:cNvSpPr/>
          <p:nvPr/>
        </p:nvSpPr>
        <p:spPr>
          <a:xfrm>
            <a:off x="4550664" y="344728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Charging Infrastructure</a:t>
            </a:r>
            <a:endParaRPr lang="en-US" sz="13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38DD9686-FC64-CBA3-7425-CF22F0AFC75D}"/>
              </a:ext>
            </a:extLst>
          </p:cNvPr>
          <p:cNvSpPr/>
          <p:nvPr/>
        </p:nvSpPr>
        <p:spPr>
          <a:xfrm>
            <a:off x="4550664" y="4296943"/>
            <a:ext cx="64008" cy="64008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2D9E39FB-1A3E-BE95-C076-BC600D2E248F}"/>
              </a:ext>
            </a:extLst>
          </p:cNvPr>
          <p:cNvSpPr/>
          <p:nvPr/>
        </p:nvSpPr>
        <p:spPr>
          <a:xfrm>
            <a:off x="4733544" y="4059936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Future infrastructure requirements are estimated from the modeled EV-to-charging relationship.</a:t>
            </a:r>
            <a:endParaRPr lang="en-US" sz="10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C4AC9D9C-27D4-3AA9-53A0-E2EC8D458507}"/>
              </a:ext>
            </a:extLst>
          </p:cNvPr>
          <p:cNvSpPr/>
          <p:nvPr/>
        </p:nvSpPr>
        <p:spPr>
          <a:xfrm>
            <a:off x="4541520" y="4988052"/>
            <a:ext cx="64008" cy="64008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8">
            <a:extLst>
              <a:ext uri="{FF2B5EF4-FFF2-40B4-BE49-F238E27FC236}">
                <a16:creationId xmlns:a16="http://schemas.microsoft.com/office/drawing/2014/main" id="{19A0A4F5-3263-C9D6-CABA-F18420DBADA4}"/>
              </a:ext>
            </a:extLst>
          </p:cNvPr>
          <p:cNvSpPr/>
          <p:nvPr/>
        </p:nvSpPr>
        <p:spPr>
          <a:xfrm>
            <a:off x="4733544" y="4773168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base case indicates a 77.16K charging-infrastructure gap by 2030.</a:t>
            </a:r>
            <a:endParaRPr lang="en-US" sz="10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835CC941-D744-D6CC-6AF3-6AA6741FD11F}"/>
              </a:ext>
            </a:extLst>
          </p:cNvPr>
          <p:cNvSpPr/>
          <p:nvPr/>
        </p:nvSpPr>
        <p:spPr>
          <a:xfrm>
            <a:off x="8116824" y="3246120"/>
            <a:ext cx="3529584" cy="3108960"/>
          </a:xfrm>
          <a:prstGeom prst="roundRect">
            <a:avLst>
              <a:gd name="adj" fmla="val 2059"/>
            </a:avLst>
          </a:prstGeom>
          <a:solidFill>
            <a:schemeClr val="tx1"/>
          </a:solidFill>
          <a:ln w="12700">
            <a:solidFill>
              <a:srgbClr val="1E4A6E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E6B186B7-A03E-A29D-E7C7-BBD5D8D5FBA3}"/>
              </a:ext>
            </a:extLst>
          </p:cNvPr>
          <p:cNvSpPr/>
          <p:nvPr/>
        </p:nvSpPr>
        <p:spPr>
          <a:xfrm>
            <a:off x="8336280" y="344728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Investment</a:t>
            </a:r>
            <a:endParaRPr lang="en-US" sz="13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32">
            <a:extLst>
              <a:ext uri="{FF2B5EF4-FFF2-40B4-BE49-F238E27FC236}">
                <a16:creationId xmlns:a16="http://schemas.microsoft.com/office/drawing/2014/main" id="{77D6E48C-F4BF-FA68-6CDC-17600231A008}"/>
              </a:ext>
            </a:extLst>
          </p:cNvPr>
          <p:cNvSpPr/>
          <p:nvPr/>
        </p:nvSpPr>
        <p:spPr>
          <a:xfrm>
            <a:off x="8336280" y="4315968"/>
            <a:ext cx="64008" cy="64008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3">
            <a:extLst>
              <a:ext uri="{FF2B5EF4-FFF2-40B4-BE49-F238E27FC236}">
                <a16:creationId xmlns:a16="http://schemas.microsoft.com/office/drawing/2014/main" id="{960B89EA-7066-1ACC-D60B-73DEF4AEB66B}"/>
              </a:ext>
            </a:extLst>
          </p:cNvPr>
          <p:cNvSpPr/>
          <p:nvPr/>
        </p:nvSpPr>
        <p:spPr>
          <a:xfrm>
            <a:off x="8519160" y="4059936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Investment requirements use scenario-specific estimated CAPEX assumptions.</a:t>
            </a:r>
            <a:endParaRPr lang="en-US" sz="10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4">
            <a:extLst>
              <a:ext uri="{FF2B5EF4-FFF2-40B4-BE49-F238E27FC236}">
                <a16:creationId xmlns:a16="http://schemas.microsoft.com/office/drawing/2014/main" id="{D5B3E4C4-74C4-5FE7-7935-E8F107415FD9}"/>
              </a:ext>
            </a:extLst>
          </p:cNvPr>
          <p:cNvSpPr/>
          <p:nvPr/>
        </p:nvSpPr>
        <p:spPr>
          <a:xfrm>
            <a:off x="8336280" y="4988052"/>
            <a:ext cx="64008" cy="64008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5">
            <a:extLst>
              <a:ext uri="{FF2B5EF4-FFF2-40B4-BE49-F238E27FC236}">
                <a16:creationId xmlns:a16="http://schemas.microsoft.com/office/drawing/2014/main" id="{5ED2BB49-F060-7636-FF84-59EC9EF65C5B}"/>
              </a:ext>
            </a:extLst>
          </p:cNvPr>
          <p:cNvSpPr/>
          <p:nvPr/>
        </p:nvSpPr>
        <p:spPr>
          <a:xfrm>
            <a:off x="8519160" y="4773168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Estimates represent potential infrastructure CAPEX, not actual investment commitments.</a:t>
            </a:r>
            <a:endParaRPr lang="en-US" sz="10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725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1">
            <a:extLst>
              <a:ext uri="{FF2B5EF4-FFF2-40B4-BE49-F238E27FC236}">
                <a16:creationId xmlns:a16="http://schemas.microsoft.com/office/drawing/2014/main" id="{527081CF-C9A4-2A87-F252-8B3FEF4E2E50}"/>
              </a:ext>
            </a:extLst>
          </p:cNvPr>
          <p:cNvSpPr/>
          <p:nvPr/>
        </p:nvSpPr>
        <p:spPr>
          <a:xfrm>
            <a:off x="8972746" y="5843016"/>
            <a:ext cx="697087" cy="329184"/>
          </a:xfrm>
          <a:prstGeom prst="roundRect">
            <a:avLst>
              <a:gd name="adj" fmla="val 50000"/>
            </a:avLst>
          </a:prstGeom>
          <a:solidFill>
            <a:srgbClr val="123A5C"/>
          </a:solidFill>
          <a:ln w="12700">
            <a:solidFill>
              <a:srgbClr val="1E4A6E"/>
            </a:solidFill>
            <a:prstDash val="solid"/>
          </a:ln>
        </p:spPr>
        <p:txBody>
          <a:bodyPr/>
          <a:lstStyle/>
          <a:p>
            <a:endParaRPr lang="en-IN" sz="1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4B8A02D9-201D-D9C7-731B-755ADC832AB7}"/>
              </a:ext>
            </a:extLst>
          </p:cNvPr>
          <p:cNvSpPr/>
          <p:nvPr/>
        </p:nvSpPr>
        <p:spPr>
          <a:xfrm>
            <a:off x="9926821" y="5829300"/>
            <a:ext cx="697087" cy="329184"/>
          </a:xfrm>
          <a:prstGeom prst="roundRect">
            <a:avLst>
              <a:gd name="adj" fmla="val 50000"/>
            </a:avLst>
          </a:prstGeom>
          <a:solidFill>
            <a:srgbClr val="123A5C"/>
          </a:solidFill>
          <a:ln w="12700">
            <a:solidFill>
              <a:srgbClr val="1E4A6E"/>
            </a:solidFill>
            <a:prstDash val="solid"/>
          </a:ln>
        </p:spPr>
        <p:txBody>
          <a:bodyPr/>
          <a:lstStyle/>
          <a:p>
            <a:endParaRPr lang="en-IN" sz="1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D1D22C5D-F1A8-D8E2-6275-B5DE3796D0E2}"/>
              </a:ext>
            </a:extLst>
          </p:cNvPr>
          <p:cNvSpPr/>
          <p:nvPr/>
        </p:nvSpPr>
        <p:spPr>
          <a:xfrm>
            <a:off x="641604" y="3886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200" dirty="0">
                <a:solidFill>
                  <a:srgbClr val="92D0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CLOSING</a:t>
            </a:r>
            <a:endParaRPr lang="en-US" sz="1200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00A91FE-607D-E111-F4E7-A1F5E3A2D168}"/>
              </a:ext>
            </a:extLst>
          </p:cNvPr>
          <p:cNvSpPr/>
          <p:nvPr/>
        </p:nvSpPr>
        <p:spPr>
          <a:xfrm>
            <a:off x="641604" y="7086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Model Limitations &amp; Next Steps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A03D67E-53E0-AA13-BD70-5AE2B83C6E4F}"/>
              </a:ext>
            </a:extLst>
          </p:cNvPr>
          <p:cNvSpPr/>
          <p:nvPr/>
        </p:nvSpPr>
        <p:spPr>
          <a:xfrm>
            <a:off x="641604" y="13761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150" dirty="0">
                <a:solidFill>
                  <a:srgbClr val="92D0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 LIMITATIONS</a:t>
            </a:r>
            <a:endParaRPr lang="en-US" sz="1200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F246B8E1-5899-6151-197A-A30DACBFAEB1}"/>
              </a:ext>
            </a:extLst>
          </p:cNvPr>
          <p:cNvSpPr/>
          <p:nvPr/>
        </p:nvSpPr>
        <p:spPr>
          <a:xfrm>
            <a:off x="671052" y="16880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9EB9516-986E-09EE-100A-9AF0BF527D27}"/>
              </a:ext>
            </a:extLst>
          </p:cNvPr>
          <p:cNvSpPr/>
          <p:nvPr/>
        </p:nvSpPr>
        <p:spPr>
          <a:xfrm>
            <a:off x="1117092" y="17145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2000"/>
              </a:lnSpc>
              <a:buNone/>
            </a:pP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Forecast uncertainty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—  2030 EV adoption may diverge from historical growth patterns.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3A0CAA56-CBAC-636B-4DD2-1B841264413D}"/>
              </a:ext>
            </a:extLst>
          </p:cNvPr>
          <p:cNvSpPr/>
          <p:nvPr/>
        </p:nvSpPr>
        <p:spPr>
          <a:xfrm>
            <a:off x="1117092" y="2409444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2000"/>
              </a:lnSpc>
              <a:buNone/>
            </a:pP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State-level aggregation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—  State averages can mask differences between cities, highways and individual locations.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24CE8E8E-C855-E560-914F-79B92602DC5C}"/>
              </a:ext>
            </a:extLst>
          </p:cNvPr>
          <p:cNvSpPr/>
          <p:nvPr/>
        </p:nvSpPr>
        <p:spPr>
          <a:xfrm>
            <a:off x="1117092" y="310438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2000"/>
              </a:lnSpc>
              <a:buNone/>
            </a:pP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Utilization not modeled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—  The model estimates infrastructure need but does not account for charger utilization, peak demand or queueing.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A43D646B-C707-5A73-727A-36DFF109D606}"/>
              </a:ext>
            </a:extLst>
          </p:cNvPr>
          <p:cNvSpPr/>
          <p:nvPr/>
        </p:nvSpPr>
        <p:spPr>
          <a:xfrm>
            <a:off x="1117092" y="379933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2000"/>
              </a:lnSpc>
              <a:buNone/>
            </a:pP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Cost variability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—  Actual CAPEX depends on land, electricity connection, charger type, installation and operating costs.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7">
            <a:extLst>
              <a:ext uri="{FF2B5EF4-FFF2-40B4-BE49-F238E27FC236}">
                <a16:creationId xmlns:a16="http://schemas.microsoft.com/office/drawing/2014/main" id="{5813DF29-D6F1-2584-20C5-8A1648E66429}"/>
              </a:ext>
            </a:extLst>
          </p:cNvPr>
          <p:cNvSpPr/>
          <p:nvPr/>
        </p:nvSpPr>
        <p:spPr>
          <a:xfrm>
            <a:off x="1117092" y="449427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2000"/>
              </a:lnSpc>
              <a:buNone/>
            </a:pP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Policy &amp; competition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—  Subsidies, regulations, existing operators and competitive intensity are not fully incorporated into the opportunity score</a:t>
            </a:r>
            <a:r>
              <a:rPr lang="en-US" sz="1200" dirty="0">
                <a:solidFill>
                  <a:srgbClr val="AFC2C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8">
            <a:extLst>
              <a:ext uri="{FF2B5EF4-FFF2-40B4-BE49-F238E27FC236}">
                <a16:creationId xmlns:a16="http://schemas.microsoft.com/office/drawing/2014/main" id="{A5A73072-27F1-79F6-CAE7-4B62EC510753}"/>
              </a:ext>
            </a:extLst>
          </p:cNvPr>
          <p:cNvSpPr/>
          <p:nvPr/>
        </p:nvSpPr>
        <p:spPr>
          <a:xfrm>
            <a:off x="641604" y="5574792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0D3049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9">
            <a:extLst>
              <a:ext uri="{FF2B5EF4-FFF2-40B4-BE49-F238E27FC236}">
                <a16:creationId xmlns:a16="http://schemas.microsoft.com/office/drawing/2014/main" id="{4F1911F6-5A61-119F-B342-87D617D006BB}"/>
              </a:ext>
            </a:extLst>
          </p:cNvPr>
          <p:cNvSpPr/>
          <p:nvPr/>
        </p:nvSpPr>
        <p:spPr>
          <a:xfrm>
            <a:off x="842772" y="56921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kern="0" spc="150" dirty="0">
                <a:solidFill>
                  <a:srgbClr val="92D0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NEXT STEP</a:t>
            </a:r>
            <a:endParaRPr lang="en-US" sz="1050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20">
            <a:extLst>
              <a:ext uri="{FF2B5EF4-FFF2-40B4-BE49-F238E27FC236}">
                <a16:creationId xmlns:a16="http://schemas.microsoft.com/office/drawing/2014/main" id="{7C27A048-32BF-482A-36F7-3DBCC0E35E9D}"/>
              </a:ext>
            </a:extLst>
          </p:cNvPr>
          <p:cNvSpPr/>
          <p:nvPr/>
        </p:nvSpPr>
        <p:spPr>
          <a:xfrm>
            <a:off x="842772" y="592074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Validate the highest-priority states through site-level feasibility analysis before capital deployment.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22">
            <a:extLst>
              <a:ext uri="{FF2B5EF4-FFF2-40B4-BE49-F238E27FC236}">
                <a16:creationId xmlns:a16="http://schemas.microsoft.com/office/drawing/2014/main" id="{C0BC7678-BE60-D117-8A92-14AA96BF2D6C}"/>
              </a:ext>
            </a:extLst>
          </p:cNvPr>
          <p:cNvSpPr/>
          <p:nvPr/>
        </p:nvSpPr>
        <p:spPr>
          <a:xfrm>
            <a:off x="7088124" y="5847588"/>
            <a:ext cx="6970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CBD8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Utilization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24">
            <a:extLst>
              <a:ext uri="{FF2B5EF4-FFF2-40B4-BE49-F238E27FC236}">
                <a16:creationId xmlns:a16="http://schemas.microsoft.com/office/drawing/2014/main" id="{4B6C4814-453B-2F3F-BB5C-B8866F2D8259}"/>
              </a:ext>
            </a:extLst>
          </p:cNvPr>
          <p:cNvSpPr/>
          <p:nvPr/>
        </p:nvSpPr>
        <p:spPr>
          <a:xfrm>
            <a:off x="7894939" y="5847588"/>
            <a:ext cx="9252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CBD8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Land availability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26">
            <a:extLst>
              <a:ext uri="{FF2B5EF4-FFF2-40B4-BE49-F238E27FC236}">
                <a16:creationId xmlns:a16="http://schemas.microsoft.com/office/drawing/2014/main" id="{7643B69E-0640-FBF2-00B6-6D925186D730}"/>
              </a:ext>
            </a:extLst>
          </p:cNvPr>
          <p:cNvSpPr/>
          <p:nvPr/>
        </p:nvSpPr>
        <p:spPr>
          <a:xfrm>
            <a:off x="8929892" y="5847588"/>
            <a:ext cx="8872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CBD8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Electricity cost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8">
            <a:extLst>
              <a:ext uri="{FF2B5EF4-FFF2-40B4-BE49-F238E27FC236}">
                <a16:creationId xmlns:a16="http://schemas.microsoft.com/office/drawing/2014/main" id="{1B5A7718-09A7-2410-364F-031291DC3DAC}"/>
              </a:ext>
            </a:extLst>
          </p:cNvPr>
          <p:cNvSpPr/>
          <p:nvPr/>
        </p:nvSpPr>
        <p:spPr>
          <a:xfrm>
            <a:off x="9926822" y="5847588"/>
            <a:ext cx="8496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CBD8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Competition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5EE8257D-7B57-542B-8E93-83F1901AC847}"/>
              </a:ext>
            </a:extLst>
          </p:cNvPr>
          <p:cNvSpPr/>
          <p:nvPr/>
        </p:nvSpPr>
        <p:spPr>
          <a:xfrm>
            <a:off x="10776490" y="5867400"/>
            <a:ext cx="8496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CBD8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Unit economics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503D05C8-1A03-562D-E145-94C238669ACD}"/>
              </a:ext>
            </a:extLst>
          </p:cNvPr>
          <p:cNvSpPr/>
          <p:nvPr/>
        </p:nvSpPr>
        <p:spPr>
          <a:xfrm>
            <a:off x="671052" y="236038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1DA3134C-7EBB-4788-FCF7-BC8B1F3F618F}"/>
              </a:ext>
            </a:extLst>
          </p:cNvPr>
          <p:cNvSpPr/>
          <p:nvPr/>
        </p:nvSpPr>
        <p:spPr>
          <a:xfrm>
            <a:off x="671052" y="30495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708B9462-0E07-2FA3-5E32-7D2D6B74B4C4}"/>
              </a:ext>
            </a:extLst>
          </p:cNvPr>
          <p:cNvSpPr/>
          <p:nvPr/>
        </p:nvSpPr>
        <p:spPr>
          <a:xfrm>
            <a:off x="671003" y="375400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7AF78736-E9E9-7AD7-67C8-5AA0BFF03CC2}"/>
              </a:ext>
            </a:extLst>
          </p:cNvPr>
          <p:cNvSpPr/>
          <p:nvPr/>
        </p:nvSpPr>
        <p:spPr>
          <a:xfrm>
            <a:off x="687324" y="4439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7986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41</TotalTime>
  <Words>802</Words>
  <Application>Microsoft Office PowerPoint</Application>
  <PresentationFormat>Widescreen</PresentationFormat>
  <Paragraphs>125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Century Gothic</vt:lpstr>
      <vt:lpstr>Times New Roman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 Praneeth Reddy</dc:creator>
  <cp:lastModifiedBy>Raja Praneeth Reddy</cp:lastModifiedBy>
  <cp:revision>3</cp:revision>
  <dcterms:created xsi:type="dcterms:W3CDTF">2026-08-23T06:29:33Z</dcterms:created>
  <dcterms:modified xsi:type="dcterms:W3CDTF">2026-08-23T07:10:45Z</dcterms:modified>
</cp:coreProperties>
</file>